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MNIT Document RAG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E6F0FF"/>
                </a:solidFill>
              </a:defRPr>
            </a:pPr>
            <a:r>
              <a:t>Repository: Nidhi-bit-ai/pro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0F3C6E"/>
                </a:solidFill>
              </a:defRPr>
            </a:pPr>
            <a:r>
              <a:t>Implementation-grounded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12529"/>
                </a:solidFill>
              </a:defRPr>
            </a:pPr>
            <a:r>
              <a:t>Covers scraping, metadata indexing, hybrid retrieval, and API deployment.</a:t>
            </a:r>
          </a:p>
          <a:p>
            <a:pPr>
              <a:defRPr sz="2000">
                <a:solidFill>
                  <a:srgbClr val="212529"/>
                </a:solidFill>
              </a:defRPr>
            </a:pPr>
            <a:r>
              <a:t>Prepared from repository code and notebooks (RAG/, RAG_Server/).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MNIT Jaipur knowledge access via Retrieval-Augmented Generation (RAG)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1) Introduction of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212529"/>
                </a:solidFill>
              </a:defRPr>
            </a:pPr>
            <a:r>
              <a:t>MNIT information is spread across many PDFs and web pages.</a:t>
            </a:r>
          </a:p>
          <a:p>
            <a:pPr lvl="1">
              <a:defRPr sz="1900">
                <a:solidFill>
                  <a:srgbClr val="212529"/>
                </a:solidFill>
              </a:defRPr>
            </a:pPr>
            <a:r>
              <a:t>Students/faculty need fast answers for syllabus, fees, policies, notices, programs.</a:t>
            </a:r>
          </a:p>
          <a:p>
            <a:pPr>
              <a:defRPr sz="2100" b="1">
                <a:solidFill>
                  <a:srgbClr val="212529"/>
                </a:solidFill>
              </a:defRPr>
            </a:pPr>
            <a:r>
              <a:t>Manual search is slow and error-prone when documents are large/unstructured.</a:t>
            </a:r>
          </a:p>
          <a:p>
            <a:pPr>
              <a:defRPr sz="2100" b="1">
                <a:solidFill>
                  <a:srgbClr val="212529"/>
                </a:solidFill>
              </a:defRPr>
            </a:pPr>
            <a:r>
              <a:t>Need: an accurate question-answering pipeline grounded in official MNIT sources.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Evidence: RAG notebooks and FastAPI routers in RAG_Server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2)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12529"/>
                </a:solidFill>
              </a:defRPr>
            </a:pPr>
            <a:r>
              <a:t>Academic support and policy lookup</a:t>
            </a:r>
          </a:p>
          <a:p>
            <a:pPr lvl="1">
              <a:defRPr sz="1700">
                <a:solidFill>
                  <a:srgbClr val="212529"/>
                </a:solidFill>
              </a:defRPr>
            </a:pPr>
            <a:r>
              <a:t>First-year Mathematics-I syllabus and curriculum extraction</a:t>
            </a:r>
          </a:p>
          <a:p>
            <a:pPr lvl="1">
              <a:defRPr sz="1700">
                <a:solidFill>
                  <a:srgbClr val="212529"/>
                </a:solidFill>
              </a:defRPr>
            </a:pPr>
            <a:r>
              <a:t>Fee structure discovery by academic year</a:t>
            </a:r>
          </a:p>
          <a:p>
            <a:pPr>
              <a:defRPr sz="1900" b="1">
                <a:solidFill>
                  <a:srgbClr val="212529"/>
                </a:solidFill>
              </a:defRPr>
            </a:pPr>
            <a:r>
              <a:t>Administrative intelligence</a:t>
            </a:r>
          </a:p>
          <a:p>
            <a:pPr lvl="1">
              <a:defRPr sz="1700">
                <a:solidFill>
                  <a:srgbClr val="212529"/>
                </a:solidFill>
              </a:defRPr>
            </a:pPr>
            <a:r>
              <a:t>UFM policy, RTI procedure, PhD exam guidelines retrieval</a:t>
            </a:r>
          </a:p>
          <a:p>
            <a:pPr>
              <a:defRPr sz="1900" b="1">
                <a:solidFill>
                  <a:srgbClr val="212529"/>
                </a:solidFill>
              </a:defRPr>
            </a:pPr>
            <a:r>
              <a:t>Research and faculty discovery</a:t>
            </a:r>
          </a:p>
          <a:p>
            <a:pPr lvl="1">
              <a:defRPr sz="1700">
                <a:solidFill>
                  <a:srgbClr val="212529"/>
                </a:solidFill>
              </a:defRPr>
            </a:pPr>
            <a:r>
              <a:t>Queries on faculty programs (e.g., quantum computing, smart-grid)</a:t>
            </a:r>
          </a:p>
          <a:p>
            <a:pPr>
              <a:defRPr sz="1900" b="1">
                <a:solidFill>
                  <a:srgbClr val="212529"/>
                </a:solidFill>
              </a:defRPr>
            </a:pPr>
            <a:r>
              <a:t>Student analytics</a:t>
            </a:r>
          </a:p>
          <a:p>
            <a:pPr lvl="1">
              <a:defRPr sz="1700">
                <a:solidFill>
                  <a:srgbClr val="212529"/>
                </a:solidFill>
              </a:defRPr>
            </a:pPr>
            <a:r>
              <a:t>Toppers/achievement-related question answering from indexed notices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Examples demonstrated in RAG/retrieval/retrieval.ipynb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3)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12529"/>
                </a:solidFill>
              </a:defRPr>
            </a:pPr>
            <a:r>
              <a:t>Ingest MNIT web content and automatically collect PDF knowledge sources.</a:t>
            </a:r>
          </a:p>
          <a:p>
            <a:pPr>
              <a:defRPr sz="2000" b="1">
                <a:solidFill>
                  <a:srgbClr val="212529"/>
                </a:solidFill>
              </a:defRPr>
            </a:pPr>
            <a:r>
              <a:t>Generate structured metadata to improve filtering and traceability.</a:t>
            </a:r>
          </a:p>
          <a:p>
            <a:pPr>
              <a:defRPr sz="2000" b="1">
                <a:solidFill>
                  <a:srgbClr val="212529"/>
                </a:solidFill>
              </a:defRPr>
            </a:pPr>
            <a:r>
              <a:t>Build robust retrieval by combining dense vectors + keyword BM25 search.</a:t>
            </a:r>
          </a:p>
          <a:p>
            <a:pPr>
              <a:defRPr sz="2000" b="1">
                <a:solidFill>
                  <a:srgbClr val="212529"/>
                </a:solidFill>
              </a:defRPr>
            </a:pPr>
            <a:r>
              <a:t>Improve answer quality with multi-query expansion, RRF fusion, and LLM reranking.</a:t>
            </a:r>
          </a:p>
          <a:p>
            <a:pPr>
              <a:defRPr sz="2000" b="1">
                <a:solidFill>
                  <a:srgbClr val="212529"/>
                </a:solidFill>
              </a:defRPr>
            </a:pPr>
            <a:r>
              <a:t>Expose production-friendly workflows through /scrapping, /indexing, /retrieval APIs.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FastAPI entrypoint: RAG_Server/main.py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4) Input, Output and Evaluation Parameters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7160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89120"/>
                <a:gridCol w="4206240"/>
              </a:tblGrid>
              <a:tr h="768096"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Implementation-backed details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300"/>
                      </a:pPr>
                      <a:r>
                        <a:t>Evaluation (targets / measurement plan)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MNIT website pages and linked PDFs crawled from mnit.ac.in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Track crawl coverage: pages visited, PDFs downloaded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Indexed Corpus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Chroma vector store: 2,339 docs; BM25 index: 2,339 docs (retrieval notebook run)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Monitor index freshness and deduplication across re-index runs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Top-N retrieved chunks + source metadata + reranker reasoning/score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Validate citation correctness and answer grounding</a:t>
                      </a:r>
                    </a:p>
                  </a:txBody>
                  <a:tcPr/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Retrieval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Hybrid search: embeddings + BM25 + RRF + LLM rerank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Plan: Recall@k, MRR/NDCG, human relevance judgments on query set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No benchmark scores claimed here; only observed counts and evaluation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5) Methodology: LLM algorithm + flow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5669280" cy="4937760"/>
          </a:xfrm>
          <a:prstGeom prst="roundRect">
            <a:avLst/>
          </a:prstGeom>
          <a:solidFill>
            <a:srgbClr val="F5F8FC"/>
          </a:solidFill>
          <a:ln>
            <a:solidFill>
              <a:srgbClr val="1F77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12529"/>
                </a:solidFill>
              </a:defRPr>
            </a:pPr>
            <a:r>
              <a:t>Algorithm (implementation mapping)</a:t>
            </a:r>
          </a:p>
          <a:p>
            <a:pPr>
              <a:defRPr sz="1300" b="0">
                <a:solidFill>
                  <a:srgbClr val="212529"/>
                </a:solidFill>
              </a:defRPr>
            </a:pPr>
            <a:r>
              <a:t>1. Crawl mnit.ac.in and download PDFs (threaded crawler).</a:t>
            </a:r>
          </a:p>
          <a:p>
            <a:pPr>
              <a:defRPr sz="1300" b="0">
                <a:solidFill>
                  <a:srgbClr val="212529"/>
                </a:solidFill>
              </a:defRPr>
            </a:pPr>
            <a:r>
              <a:t>2. Load PDFs (PyPDFLoader), extract metadata (Gemini + Pydantic parser).</a:t>
            </a:r>
          </a:p>
          <a:p>
            <a:pPr>
              <a:defRPr sz="1300" b="0">
                <a:solidFill>
                  <a:srgbClr val="212529"/>
                </a:solidFill>
              </a:defRPr>
            </a:pPr>
            <a:r>
              <a:t>3. Chunk text (RecursiveCharacterTextSplitter).</a:t>
            </a:r>
          </a:p>
          <a:p>
            <a:pPr>
              <a:defRPr sz="1300" b="0">
                <a:solidFill>
                  <a:srgbClr val="212529"/>
                </a:solidFill>
              </a:defRPr>
            </a:pPr>
            <a:r>
              <a:t>4. Embed chunks (Google text-embedding-004) and store in ChromaDB.</a:t>
            </a:r>
          </a:p>
          <a:p>
            <a:pPr>
              <a:defRPr sz="1300" b="0">
                <a:solidFill>
                  <a:srgbClr val="212529"/>
                </a:solidFill>
              </a:defRPr>
            </a:pPr>
            <a:r>
              <a:t>5. For each user query: generate query variants with Gemini.</a:t>
            </a:r>
          </a:p>
          <a:p>
            <a:pPr>
              <a:defRPr sz="1300" b="0">
                <a:solidFill>
                  <a:srgbClr val="212529"/>
                </a:solidFill>
              </a:defRPr>
            </a:pPr>
            <a:r>
              <a:t>6. Run vector similarity + BM25 keyword retrieval.</a:t>
            </a:r>
          </a:p>
          <a:p>
            <a:pPr>
              <a:defRPr sz="1300" b="0">
                <a:solidFill>
                  <a:srgbClr val="212529"/>
                </a:solidFill>
              </a:defRPr>
            </a:pPr>
            <a:r>
              <a:t>7. Fuse ranked lists with Reciprocal Rank Fusion (RRF).</a:t>
            </a:r>
          </a:p>
          <a:p>
            <a:pPr>
              <a:defRPr sz="1300" b="0">
                <a:solidFill>
                  <a:srgbClr val="212529"/>
                </a:solidFill>
              </a:defRPr>
            </a:pPr>
            <a:r>
              <a:t>8. Rerank candidates with LLM relevance scoring and return top sources.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417320"/>
            <a:ext cx="4846320" cy="59436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Web Crawl + PDF Download</a:t>
            </a:r>
          </a:p>
        </p:txBody>
      </p:sp>
      <p:sp>
        <p:nvSpPr>
          <p:cNvPr id="7" name="Down Arrow 6"/>
          <p:cNvSpPr/>
          <p:nvPr/>
        </p:nvSpPr>
        <p:spPr>
          <a:xfrm>
            <a:off x="8686800" y="2002536"/>
            <a:ext cx="640080" cy="182880"/>
          </a:xfrm>
          <a:prstGeom prst="downArrow">
            <a:avLst/>
          </a:prstGeom>
          <a:solidFill>
            <a:srgbClr val="0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0" y="2194560"/>
            <a:ext cx="4846320" cy="594360"/>
          </a:xfrm>
          <a:prstGeom prst="round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Metadata + Chunking + Embedding</a:t>
            </a:r>
          </a:p>
        </p:txBody>
      </p:sp>
      <p:sp>
        <p:nvSpPr>
          <p:cNvPr id="9" name="Down Arrow 8"/>
          <p:cNvSpPr/>
          <p:nvPr/>
        </p:nvSpPr>
        <p:spPr>
          <a:xfrm>
            <a:off x="8686800" y="2779776"/>
            <a:ext cx="640080" cy="182880"/>
          </a:xfrm>
          <a:prstGeom prst="downArrow">
            <a:avLst/>
          </a:prstGeom>
          <a:solidFill>
            <a:srgbClr val="0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2971800"/>
            <a:ext cx="4846320" cy="59436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ChromaDB + BM25 Index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8686800" y="3557016"/>
            <a:ext cx="640080" cy="182880"/>
          </a:xfrm>
          <a:prstGeom prst="downArrow">
            <a:avLst/>
          </a:prstGeom>
          <a:solidFill>
            <a:srgbClr val="0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3749039"/>
            <a:ext cx="4846320" cy="594360"/>
          </a:xfrm>
          <a:prstGeom prst="round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User Query + Multi-Query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8686800" y="4334255"/>
            <a:ext cx="640080" cy="182880"/>
          </a:xfrm>
          <a:prstGeom prst="downArrow">
            <a:avLst/>
          </a:prstGeom>
          <a:solidFill>
            <a:srgbClr val="0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83680" y="4526280"/>
            <a:ext cx="4846320" cy="594360"/>
          </a:xfrm>
          <a:prstGeom prst="round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Hybrid Retrieve + RRF + LLM Rerank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686800" y="5111496"/>
            <a:ext cx="640080" cy="182880"/>
          </a:xfrm>
          <a:prstGeom prst="downArrow">
            <a:avLst/>
          </a:prstGeom>
          <a:solidFill>
            <a:srgbClr val="0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83680" y="5303520"/>
            <a:ext cx="4846320" cy="594360"/>
          </a:xfrm>
          <a:prstGeom prst="round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Grounded Top-N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Core modules: RAG_Server/src/scrapping, indexing, retrieval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F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8961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6) Reference (Literature Survey)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12529"/>
                </a:solidFill>
              </a:defRPr>
            </a:pPr>
            <a:r>
              <a:t>Lewis et al. (2020). Retrieval-Augmented Generation for Knowledge-Intensive NLP Tasks.</a:t>
            </a:r>
          </a:p>
          <a:p>
            <a:pPr>
              <a:defRPr sz="1700" b="1">
                <a:solidFill>
                  <a:srgbClr val="212529"/>
                </a:solidFill>
              </a:defRPr>
            </a:pPr>
            <a:r>
              <a:t>Karpukhin et al. (2020). Dense Passage Retrieval for Open-Domain Question Answering.</a:t>
            </a:r>
          </a:p>
          <a:p>
            <a:pPr>
              <a:defRPr sz="1700" b="1">
                <a:solidFill>
                  <a:srgbClr val="212529"/>
                </a:solidFill>
              </a:defRPr>
            </a:pPr>
            <a:r>
              <a:t>Robertson &amp; Zaragoza (2009). The Probabilistic Relevance Framework: BM25 and Beyond.</a:t>
            </a:r>
          </a:p>
          <a:p>
            <a:pPr>
              <a:defRPr sz="1700" b="1">
                <a:solidFill>
                  <a:srgbClr val="212529"/>
                </a:solidFill>
              </a:defRPr>
            </a:pPr>
            <a:r>
              <a:t>Cormack, Clarke &amp; Buettcher (2009). Reciprocal Rank Fusion outperforms Condorcet and learning methods.</a:t>
            </a:r>
          </a:p>
          <a:p>
            <a:pPr>
              <a:defRPr sz="1700" b="1">
                <a:solidFill>
                  <a:srgbClr val="212529"/>
                </a:solidFill>
              </a:defRPr>
            </a:pPr>
            <a:r>
              <a:t>LangChain documentation (retrievers/chains), Chroma vector store documentation.</a:t>
            </a:r>
          </a:p>
          <a:p>
            <a:pPr>
              <a:defRPr sz="1700" b="1">
                <a:solidFill>
                  <a:srgbClr val="212529"/>
                </a:solidFill>
              </a:defRPr>
            </a:pPr>
            <a:r>
              <a:t>Google Generative AI embeddings/chat model references used in implementation.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C757D"/>
                </a:solidFill>
              </a:defRPr>
            </a:pPr>
            <a:r>
              <a:t>Repository implementation references: RAG notebooks + RAG_Server/src 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C757D"/>
                </a:solidFill>
              </a:defRPr>
            </a:pPr>
            <a:r>
              <a:t>This slide mixes foundational papers with stack-specific implementation references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